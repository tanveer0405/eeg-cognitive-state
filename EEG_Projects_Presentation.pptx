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C1C2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C1C2E"/>
                </a:solidFill>
                <a:latin typeface="Arial"/>
              </a:rPr>
              <a:t>Model Comparison — Accuracy &amp; F1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LinearSVC</c:v>
                </c:pt>
                <c:pt idx="1">
                  <c:v>LDA</c:v>
                </c:pt>
                <c:pt idx="2">
                  <c:v>Rand Forest</c:v>
                </c:pt>
                <c:pt idx="3">
                  <c:v>HGB</c:v>
                </c:pt>
                <c:pt idx="4">
                  <c:v>KNN</c:v>
                </c:pt>
                <c:pt idx="5">
                  <c:v>Logistic Reg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71.599999999999994</c:v>
                </c:pt>
                <c:pt idx="1">
                  <c:v>71.900000000000006</c:v>
                </c:pt>
                <c:pt idx="2">
                  <c:v>70.099999999999994</c:v>
                </c:pt>
                <c:pt idx="3">
                  <c:v>71.5</c:v>
                </c:pt>
                <c:pt idx="4">
                  <c:v>61.1</c:v>
                </c:pt>
                <c:pt idx="5">
                  <c:v>71.2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3F-4CA7-A77A-51185A1282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LinearSVC</c:v>
                </c:pt>
                <c:pt idx="1">
                  <c:v>LDA</c:v>
                </c:pt>
                <c:pt idx="2">
                  <c:v>Rand Forest</c:v>
                </c:pt>
                <c:pt idx="3">
                  <c:v>HGB</c:v>
                </c:pt>
                <c:pt idx="4">
                  <c:v>KNN</c:v>
                </c:pt>
                <c:pt idx="5">
                  <c:v>Logistic Reg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71.5</c:v>
                </c:pt>
                <c:pt idx="1">
                  <c:v>71.900000000000006</c:v>
                </c:pt>
                <c:pt idx="2">
                  <c:v>70</c:v>
                </c:pt>
                <c:pt idx="3">
                  <c:v>71.400000000000006</c:v>
                </c:pt>
                <c:pt idx="4">
                  <c:v>60.8</c:v>
                </c:pt>
                <c:pt idx="5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3F-4CA7-A77A-51185A1282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77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23267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Jalandhar ·  Machine Learning Lab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79" y="-158265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Cognitive State Classification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Learner Attention 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67286" y="1635366"/>
            <a:ext cx="4304714" cy="4571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429000"/>
            <a:ext cx="3657600" cy="411480"/>
          </a:xfrm>
          <a:prstGeom prst="rect">
            <a:avLst/>
          </a:prstGeom>
          <a:solidFill>
            <a:srgbClr val="2D2D44"/>
          </a:solidFill>
          <a:ln w="12700">
            <a:solidFill>
              <a:srgbClr val="3B6B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Emotion State Classification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3429000"/>
            <a:ext cx="3657600" cy="411480"/>
          </a:xfrm>
          <a:prstGeom prst="rect">
            <a:avLst/>
          </a:prstGeom>
          <a:solidFill>
            <a:srgbClr val="2D2D44"/>
          </a:solidFill>
          <a:ln w="12700">
            <a:solidFill>
              <a:srgbClr val="3B6B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Attention Level Recommendation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Dataset  ·  15 Subjects  ·  62 Channels  ·  29,700 Windows  </a:t>
            </a:r>
            <a:endParaRPr lang="en-US" sz="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6D66767-B18B-2340-0B1C-0941BA589676}"/>
              </a:ext>
            </a:extLst>
          </p:cNvPr>
          <p:cNvSpPr/>
          <p:nvPr/>
        </p:nvSpPr>
        <p:spPr>
          <a:xfrm>
            <a:off x="5938060" y="4754880"/>
            <a:ext cx="32692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Tanveer Singh Saini</a:t>
            </a:r>
          </a:p>
          <a:p>
            <a:r>
              <a:rPr lang="en-US" sz="1400" i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B.Tech</a:t>
            </a:r>
            <a:r>
              <a:rPr lang="en-US" sz="1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Electrical Engineering (2024-2028)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841248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28346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 &amp; Patra (2022) — 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Generation Computer Systems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61518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students, single-channel EEG (NeuroSky)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feature extraction + Siamese Neural Network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3-class: Weak / Good / Outstanding  |  F1 = 0.74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Single channel, small sample, no feature selection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63824" y="841248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3824" y="841248"/>
            <a:ext cx="28346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73552" y="123444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 &amp; Patra (2022) — Recommendation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73552" y="17190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With Applications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73552" y="2029968"/>
            <a:ext cx="261518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students, single-channel EEG, 10 ML videos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+ alpha/beta attention ratio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LRFL_B recommender  |  F1K = 0.663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Binary labels, unsupervised, rule-based recommendation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71616" y="841248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841248"/>
            <a:ext cx="28346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344" y="123444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(2023) — Multi-Level Attention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81344" y="17190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J. Environmental Research &amp; Public Health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81344" y="2029968"/>
            <a:ext cx="261518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subjects, 10 channels, 4-level attention tasks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Sequential Forward Selection (SFS)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accuracy after feature selection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Small dataset, single classifier, no recommendation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Dataset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3931920" cy="296265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(45 sessions, 3 per subject)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(10-20 system)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Trials/Session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film-clip trials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DE, PSD, DASM, RASM (1s segments)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29,700  (10s window, 5s step)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Labels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/ Neutral / Positive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Labels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Medium / High Attention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 per class (balanced)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26187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64608" y="12984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64608" y="1499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linear classifier — O(n) complexity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54880" y="1783080"/>
            <a:ext cx="3931920" cy="475488"/>
          </a:xfrm>
          <a:prstGeom prst="rect">
            <a:avLst/>
          </a:prstGeom>
          <a:solidFill>
            <a:srgbClr val="EAEF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18196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64608" y="2020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to max class-separability subspace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0" y="230428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23408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64608" y="2542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trees, handles nonlinearity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2825496"/>
            <a:ext cx="3931920" cy="475488"/>
          </a:xfrm>
          <a:prstGeom prst="rect">
            <a:avLst/>
          </a:prstGeom>
          <a:solidFill>
            <a:srgbClr val="EAEF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2862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 Grad Boosting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64608" y="3063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 — compact, high accuracy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54880" y="334670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64608" y="3383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64608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Distance-based, no training phase required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54880" y="3867912"/>
            <a:ext cx="3931920" cy="475488"/>
          </a:xfrm>
          <a:prstGeom prst="rect">
            <a:avLst/>
          </a:prstGeom>
          <a:solidFill>
            <a:srgbClr val="EAEF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3904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64608" y="4105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linear baseline with L2 regularisation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Feature Extraction  (Project 1: Emotion Classification)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1264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77724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150876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.mat Files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170432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· PSD · DASM · RASM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1-second segments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0240" y="1783080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77724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93976" y="777240"/>
            <a:ext cx="150876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777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67128" y="1170432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window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step overlap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29,700 windows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02736" y="1783080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76472" y="77724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76472" y="777240"/>
            <a:ext cx="150876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777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9624" y="1170432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(mean, std,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skew, kurt)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ratios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3,516 total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85232" y="1783080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77724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8968" y="777240"/>
            <a:ext cx="1508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777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Selection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1170432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</a:t>
            </a:r>
            <a:r>
              <a:rPr lang="en-US" sz="8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fold (no leakage)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 60 features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67728" y="1783080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41464" y="77724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41464" y="777240"/>
            <a:ext cx="1508760" cy="34747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41464" y="7772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14616" y="1170432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subject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Used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337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Statistical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63016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skewness, kurtosis per (channel × band)  →  1,240 features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4279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MI: 0.023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0" y="329184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51760" y="3337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Statistical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51760" y="363016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 statistics on PSD values  →  1,240 features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51760" y="4279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MI: 0.023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3291840"/>
            <a:ext cx="1965960" cy="1417320"/>
          </a:xfrm>
          <a:prstGeom prst="rect">
            <a:avLst/>
          </a:prstGeom>
          <a:solidFill>
            <a:srgbClr val="EBF3FF"/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3337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Power Ratios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63016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θ/α · β/α · γ/β per channel + each band/total  →  496 features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4279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MI: 0.081  ★ highest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66560" y="329184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58000" y="3337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363016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DASM / RASM mean + std  →  540 features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4279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MI: 0.009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Composite Attention Score  (Project 2: Recommendation)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1264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2697480" cy="4572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Theta / Beta Ratio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2267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Θ/β  per channel (mean over window)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0.4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83464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θ relative to β indicates drowsiness / inattention.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ratio = more attentive.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(Freeman et al. 1999 — validated marker)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54480"/>
            <a:ext cx="2697480" cy="4572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554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Frontal Beta Suppression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01568" y="2267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(frontal β / total DE)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0.3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01568" y="283464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frontal beta indicates disengagement.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Fp1, Fp2, F3, F4, F7, F8, Fz.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suppression = low attention.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554480"/>
            <a:ext cx="2697480" cy="4572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54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DASM Hemispheric Asymmetry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36208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36208" y="2267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−tanh(DASM_β / 5)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36208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0.3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6208" y="2834640"/>
            <a:ext cx="24688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Left-right asymmetry in beta band.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DASM = left &gt; right = engaged.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Negated so high value = inattentive.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EBF3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 =  0.4 × (Θ/β)  +  0.3 × (1 − frontal β)  +  0.3 × (−tanh(DASM_β/5))     →  Lower score = more attentive  →  Percentile thresholds → Low / Medium / High labels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Recommendation System Pipeline  (Project 2)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1264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77824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77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859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attention per window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7552" y="11064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classifier (best model) trained on all subjects except test subject (LOSO). Predicts Low / Medium / High for each 10-second EEG window.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4652" y="1261872"/>
            <a:ext cx="0" cy="347472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trial level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19110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trial (video), compute mean predicted attention label across all its windows. Also record % of Low-attention windows per trial.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4652" y="2066544"/>
            <a:ext cx="0" cy="347472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8716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trials per subject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7157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trials ascending by mean predicted attention score. Trials with lowest score had the most inattentive EEG — candidate for re-watching.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4652" y="2871216"/>
            <a:ext cx="0" cy="347472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bottom-3 trials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" y="35204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lowest-attention trials are flagged as recommended for re-watching. Output: per-subject ranked list with attention percentages.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4652" y="3675888"/>
            <a:ext cx="0" cy="347472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755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7552" y="43251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bottom 40% attention trials per subject are truly low-attention. Metrics: Precision@3, Recall@3, F1@3. Any value &gt; 0.5 outperforms random baseline.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804672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804672"/>
            <a:ext cx="3566160" cy="4114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8046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— Shaw et al. vs This Work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93792" y="1261872"/>
          <a:ext cx="3456432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 et al.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(NeuroSky)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(SEED)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ML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α/β ratio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Rec. logic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Score-ranked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 result]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Emotion State Classification  (Project 1)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858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31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(LDA)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39112" y="6858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9112" y="731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39112" y="11704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(LDA)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58184" y="6858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731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58184" y="11704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77256" y="6858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77256" y="731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60→80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7256" y="11704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(K)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96328" y="731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96328" y="117043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2505282448"/>
              </p:ext>
            </p:extLst>
          </p:nvPr>
        </p:nvGraphicFramePr>
        <p:xfrm>
          <a:off x="320040" y="1719072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7840" y="1719072"/>
            <a:ext cx="3291840" cy="31089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77840" y="48280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Curve — Accuracy vs K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20040" y="4773168"/>
            <a:ext cx="5120640" cy="292608"/>
          </a:xfrm>
          <a:prstGeom prst="rect">
            <a:avLst/>
          </a:prstGeom>
          <a:solidFill>
            <a:srgbClr val="EBF3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4773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achieves best accuracy (71.9%) — Band Power Ratios are 3.5× more discriminative than statistical features.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Matrices &amp; Per-Class F1  (Project 1)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640080"/>
            <a:ext cx="530352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37490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all 6 models, all folds combined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640080"/>
            <a:ext cx="324612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0" y="25603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by model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69280" y="2816352"/>
            <a:ext cx="3246120" cy="1783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69280" y="457200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band power by emotion class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320040" y="39776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20040" y="4251960"/>
            <a:ext cx="5303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recall ~85% across all models — highest of the three classes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↔ Neutral most confused — share suppressed oscillation patterns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emotion has distinctive high Beta &amp; Gamma power (see band chart)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vastly outperform chance (33.3%) — confirming EEG discriminability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8 / 10]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Attention Classification &amp; Recommendation  (Project 2)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5836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676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42032" y="65836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676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42032" y="1042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26864" y="1042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11696" y="676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11696" y="1042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0040" y="34015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0060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046720" y="4864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D00CF0-3245-6F50-584B-85171D973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02" y="1549908"/>
            <a:ext cx="4085099" cy="36078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F669F-5640-E983-DD95-971308AA3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732499"/>
            <a:ext cx="4535423" cy="232159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0EBB2BB-32AB-4364-20DD-007DBC338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109" y="3215095"/>
            <a:ext cx="3548574" cy="19284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0972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Emotion Classification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4023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achieves 71.9% accuracy — competitive with DL baselines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Power Ratios are 3.5× more informative than statistical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emotion classifies best (~85% recall)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(MI, K=60) critical — accuracy degrades beyond K=80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Subject-independent evaluation — no data leakage across subjects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Attention Recommendation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40233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attention score (3 markers) outperforms single alpha/beta ratio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on 62-channel data vs Shaw et al. single-channel clustering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labels (Low/Med/High) more granular than binary attentive/non-attentive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ranked by predicted attention score per trial per subject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 and Recall@3 evaluate quality of lecture video suggestion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0" cy="2423160"/>
          </a:xfrm>
          <a:prstGeom prst="line">
            <a:avLst/>
          </a:prstGeom>
          <a:noFill/>
          <a:ln w="10160">
            <a:solidFill>
              <a:srgbClr val="3B6B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31920"/>
            <a:ext cx="8046720" cy="713232"/>
          </a:xfrm>
          <a:prstGeom prst="rect">
            <a:avLst/>
          </a:prstGeom>
          <a:solidFill>
            <a:srgbClr val="2D2D44"/>
          </a:solidFill>
          <a:ln w="12700">
            <a:solidFill>
              <a:srgbClr val="3B6B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subjects limits cross-subject generalisation  ·  Attention labels are proxy-derived, not ground-truth validated  ·  Future: RBF-SVM with Nyström approx  ·  Raw signal processing  ·  Multi-session temporal analysis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4700016"/>
            <a:ext cx="80467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3B6B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7000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https://github.com/Tanveer0405/EEG-Cognitive-State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1262</Words>
  <Application>Microsoft Office PowerPoint</Application>
  <PresentationFormat>On-screen Show (16:9)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Cognitive State Classification and Attention Recommendation</dc:title>
  <dc:subject>PptxGenJS Presentation</dc:subject>
  <dc:creator>PptxGenJS</dc:creator>
  <cp:lastModifiedBy>TANVEER SINGH</cp:lastModifiedBy>
  <cp:revision>5</cp:revision>
  <dcterms:created xsi:type="dcterms:W3CDTF">2026-05-31T14:49:54Z</dcterms:created>
  <dcterms:modified xsi:type="dcterms:W3CDTF">2026-06-02T06:41:36Z</dcterms:modified>
</cp:coreProperties>
</file>