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C1C2E"/>
                </a:solidFill>
                <a:latin typeface="Arial"/>
              </a:defRPr>
            </a:pPr>
            <a:r>
              <a:rPr lang="en-IN" sz="1000" b="0" i="0" u="none" strike="noStrike">
                <a:solidFill>
                  <a:srgbClr val="1C1C2E"/>
                </a:solidFill>
                <a:latin typeface="Arial"/>
              </a:rPr>
              <a:t>Model Comparison — Accuracy &amp; F1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LinearSVC</c:v>
                </c:pt>
                <c:pt idx="1">
                  <c:v>LDA</c:v>
                </c:pt>
                <c:pt idx="2">
                  <c:v>Rand Forest</c:v>
                </c:pt>
                <c:pt idx="3">
                  <c:v>HGB</c:v>
                </c:pt>
                <c:pt idx="4">
                  <c:v>KNN</c:v>
                </c:pt>
                <c:pt idx="5">
                  <c:v>Logistic Reg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71.599999999999994</c:v>
                </c:pt>
                <c:pt idx="1">
                  <c:v>71.900000000000006</c:v>
                </c:pt>
                <c:pt idx="2">
                  <c:v>70.099999999999994</c:v>
                </c:pt>
                <c:pt idx="3">
                  <c:v>71.5</c:v>
                </c:pt>
                <c:pt idx="4">
                  <c:v>61.1</c:v>
                </c:pt>
                <c:pt idx="5">
                  <c:v>71.2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63F-4CA7-A77A-51185A12829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 Score (%)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LinearSVC</c:v>
                </c:pt>
                <c:pt idx="1">
                  <c:v>LDA</c:v>
                </c:pt>
                <c:pt idx="2">
                  <c:v>Rand Forest</c:v>
                </c:pt>
                <c:pt idx="3">
                  <c:v>HGB</c:v>
                </c:pt>
                <c:pt idx="4">
                  <c:v>KNN</c:v>
                </c:pt>
                <c:pt idx="5">
                  <c:v>Logistic Reg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71.5</c:v>
                </c:pt>
                <c:pt idx="1">
                  <c:v>71.900000000000006</c:v>
                </c:pt>
                <c:pt idx="2">
                  <c:v>70</c:v>
                </c:pt>
                <c:pt idx="3">
                  <c:v>71.400000000000006</c:v>
                </c:pt>
                <c:pt idx="4">
                  <c:v>60.8</c:v>
                </c:pt>
                <c:pt idx="5">
                  <c:v>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63F-4CA7-A77A-51185A12829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0"/>
          <c:min val="5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1776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123267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Institute of Technology Jalandhar ·  Machine Learning Lab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82879" y="-158265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EEG-Based Cognitive State Classification</a:t>
            </a:r>
            <a:endParaRPr lang="en-US" sz="3000" dirty="0"/>
          </a:p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Learner Attention Recommendation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67286" y="1635366"/>
            <a:ext cx="4304714" cy="45719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429000"/>
            <a:ext cx="3657600" cy="411480"/>
          </a:xfrm>
          <a:prstGeom prst="rect">
            <a:avLst/>
          </a:prstGeom>
          <a:solidFill>
            <a:srgbClr val="2D2D44"/>
          </a:solidFill>
          <a:ln w="12700">
            <a:solidFill>
              <a:srgbClr val="3B6BBF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34290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1 — Emotion State Classification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80560" y="3429000"/>
            <a:ext cx="3657600" cy="411480"/>
          </a:xfrm>
          <a:prstGeom prst="rect">
            <a:avLst/>
          </a:prstGeom>
          <a:solidFill>
            <a:srgbClr val="2D2D44"/>
          </a:solidFill>
          <a:ln w="12700">
            <a:solidFill>
              <a:srgbClr val="3B6BBF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80560" y="34290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2 — Attention Level Recommendation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Dataset  ·  15 Subjects  ·  62 Channels  ·  29,700 Windows  </a:t>
            </a:r>
            <a:endParaRPr lang="en-US" sz="9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66D66767-B18B-2340-0B1C-0941BA589676}"/>
              </a:ext>
            </a:extLst>
          </p:cNvPr>
          <p:cNvSpPr/>
          <p:nvPr/>
        </p:nvSpPr>
        <p:spPr>
          <a:xfrm>
            <a:off x="5938060" y="4754880"/>
            <a:ext cx="326924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Tanveer Singh Saini</a:t>
            </a:r>
          </a:p>
          <a:p>
            <a:r>
              <a:rPr lang="en-US" sz="1400" i="1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B.Tech</a:t>
            </a:r>
            <a:r>
              <a:rPr lang="en-US" sz="1400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Electrical Engineering (2024-2028)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822960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41248"/>
            <a:ext cx="28346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841248"/>
            <a:ext cx="283464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84124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234440"/>
            <a:ext cx="26151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Shaw &amp; Patra (2022) — Classification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1719072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Generation Computer Systems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65760" y="2029968"/>
            <a:ext cx="2615184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students, single-channel EEG (NeuroSky)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DWT feature extraction + Siamese Neural Network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3-class: Weak / Good / Outstanding  |  F1 = 0.74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Single channel, small sample, no feature selection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163824" y="841248"/>
            <a:ext cx="28346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63824" y="841248"/>
            <a:ext cx="283464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63824" y="84124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73552" y="1234440"/>
            <a:ext cx="26151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Shaw &amp; Patra (2022) — Recommendation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273552" y="1719072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Systems With Applications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73552" y="2029968"/>
            <a:ext cx="2615184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students, single-channel EEG, 10 ML videos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clustering + alpha/beta attention ratio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LRFL_B recommender  |  F1K = 0.663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Binary labels, unsupervised, rule-based recommendation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071616" y="841248"/>
            <a:ext cx="28346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71616" y="841248"/>
            <a:ext cx="283464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71616" y="84124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1344" y="1234440"/>
            <a:ext cx="26151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 et al. (2023) — Multi-Level Attention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181344" y="1719072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J. Environmental Research &amp; Public Health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181344" y="2029968"/>
            <a:ext cx="2615184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subjects, 10 channels, 4-level attention tasks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+ Sequential Forward Selection (SFS)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94.1% accuracy after feature selection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Small dataset, single classifier, no recommendation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Models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822960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Dataset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61872"/>
          <a:ext cx="3931920" cy="2962656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Subjects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(45 sessions, 3 per subject)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EEG Channels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(10-20 system)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Trials/Session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film-clip trials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DE, PSD, DASM, RASM (1s segments)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29,700  (10s window, 5s step)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Labels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/ Neutral / Positive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 Labels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/ Medium / High Attention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~33% per class (balanced)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754880" y="86868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754880" y="1261872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864608" y="129844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LinearSVC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864608" y="14996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linear classifier — O(n) complexity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754880" y="1783080"/>
            <a:ext cx="3931920" cy="475488"/>
          </a:xfrm>
          <a:prstGeom prst="rect">
            <a:avLst/>
          </a:prstGeom>
          <a:solidFill>
            <a:srgbClr val="EAEFF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64608" y="181965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864608" y="202082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to max class-separability subspace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754880" y="2304288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64608" y="23408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864608" y="2542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of decision trees, handles nonlinearity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54880" y="2825496"/>
            <a:ext cx="3931920" cy="475488"/>
          </a:xfrm>
          <a:prstGeom prst="rect">
            <a:avLst/>
          </a:prstGeom>
          <a:solidFill>
            <a:srgbClr val="EAEFF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864608" y="28620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 Grad Boosting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864608" y="3063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boosting — compact, high accuracy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754880" y="3346704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864608" y="33832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4864608" y="35844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Distance-based, no training phase required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754880" y="3867912"/>
            <a:ext cx="3931920" cy="475488"/>
          </a:xfrm>
          <a:prstGeom prst="rect">
            <a:avLst/>
          </a:prstGeom>
          <a:solidFill>
            <a:srgbClr val="EAEFF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864608" y="3904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4864608" y="410565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linear baseline with L2 regularisation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Feature Extraction  (Project 1: Emotion Classification)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612648"/>
            <a:ext cx="822960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777240"/>
            <a:ext cx="15087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777240"/>
            <a:ext cx="1508760" cy="347472"/>
          </a:xfrm>
          <a:prstGeom prst="rect">
            <a:avLst/>
          </a:prstGeom>
          <a:solidFill>
            <a:srgbClr val="1C1C2E"/>
          </a:solidFill>
          <a:ln w="12700">
            <a:solidFill>
              <a:srgbClr val="1C1C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77724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.mat Files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84632" y="1170432"/>
            <a:ext cx="1371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· PSD · DASM · RASM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1-second segments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920240" y="1783080"/>
            <a:ext cx="16459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93976" y="777240"/>
            <a:ext cx="15087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093976" y="777240"/>
            <a:ext cx="1508760" cy="347472"/>
          </a:xfrm>
          <a:prstGeom prst="rect">
            <a:avLst/>
          </a:prstGeom>
          <a:solidFill>
            <a:srgbClr val="1C1C2E"/>
          </a:solidFill>
          <a:ln w="12700">
            <a:solidFill>
              <a:srgbClr val="1C1C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93976" y="77724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Windowing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67128" y="1170432"/>
            <a:ext cx="1371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10s window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 step overlap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29,700 windows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602736" y="1783080"/>
            <a:ext cx="16459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76472" y="777240"/>
            <a:ext cx="15087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76472" y="777240"/>
            <a:ext cx="1508760" cy="347472"/>
          </a:xfrm>
          <a:prstGeom prst="rect">
            <a:avLst/>
          </a:prstGeom>
          <a:solidFill>
            <a:srgbClr val="1C1C2E"/>
          </a:solidFill>
          <a:ln w="12700">
            <a:solidFill>
              <a:srgbClr val="1C1C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76472" y="77724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9624" y="1170432"/>
            <a:ext cx="1371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(mean, std,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skew, kurt)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ratios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Asymmetry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3,516 total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285232" y="1783080"/>
            <a:ext cx="16459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777240"/>
            <a:ext cx="15087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58968" y="777240"/>
            <a:ext cx="150876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8968" y="77724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Selection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532120" y="1170432"/>
            <a:ext cx="1371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</a:t>
            </a:r>
            <a:r>
              <a:rPr lang="en-US" sz="8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KBest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Information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fold (no leakage)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Top 60 features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967728" y="1783080"/>
            <a:ext cx="16459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41464" y="777240"/>
            <a:ext cx="15087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41464" y="777240"/>
            <a:ext cx="1508760" cy="347472"/>
          </a:xfrm>
          <a:prstGeom prst="rect">
            <a:avLst/>
          </a:prstGeom>
          <a:solidFill>
            <a:srgbClr val="1C1C2E"/>
          </a:solidFill>
          <a:ln w="12700">
            <a:solidFill>
              <a:srgbClr val="1C1C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41464" y="77724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214616" y="1170432"/>
            <a:ext cx="1371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Subject-wise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leakage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subject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Groups Used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3291840"/>
            <a:ext cx="1965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48640" y="3337560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Statistical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48640" y="3630168"/>
            <a:ext cx="1783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mean, std, skewness, kurtosis per (channel × band)  →  1,240 features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48640" y="427939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MI: 0.023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560320" y="3291840"/>
            <a:ext cx="1965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2651760" y="3337560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PSD Statistical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651760" y="3630168"/>
            <a:ext cx="1783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4 statistics on PSD values  →  1,240 features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651760" y="427939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MI: 0.023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663440" y="3291840"/>
            <a:ext cx="1965960" cy="1417320"/>
          </a:xfrm>
          <a:prstGeom prst="rect">
            <a:avLst/>
          </a:prstGeom>
          <a:solidFill>
            <a:srgbClr val="EBF3FF"/>
          </a:solidFill>
          <a:ln w="12700">
            <a:solidFill>
              <a:srgbClr val="3B82F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754880" y="3337560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Power Ratios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3630168"/>
            <a:ext cx="1783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θ/α · β/α · γ/β per channel + each band/total  →  496 features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754880" y="427939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MI: 0.081  ★ highest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766560" y="3291840"/>
            <a:ext cx="1965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858000" y="3337560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Asymmetry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858000" y="3630168"/>
            <a:ext cx="1783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DASM / RASM mean + std  →  540 features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58000" y="427939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MI: 0.009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Composite Attention Score  (Project 2: Recommendation)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612648"/>
            <a:ext cx="822960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77240"/>
            <a:ext cx="8229600" cy="621792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8229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Difference from Shaw et al. (2022):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9436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Shaw et al. used only the alpha/beta ratio from a single-channel device and binary labels. This work combines three validated EEG attention markers from 62 channels into a composite score, producing 3-class labels (Low / Medium / High) and training supervised classifiers instead of clustering.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97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54480"/>
            <a:ext cx="2697480" cy="457200"/>
          </a:xfrm>
          <a:prstGeom prst="rect">
            <a:avLst/>
          </a:prstGeom>
          <a:solidFill>
            <a:srgbClr val="1C1C2E"/>
          </a:solidFill>
          <a:ln w="12700">
            <a:solidFill>
              <a:srgbClr val="1C1C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54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Theta / Beta Ratio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8483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66928" y="226771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Θ/β  per channel (mean over window)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66928" y="257860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Weight: 0.4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" y="2834640"/>
            <a:ext cx="246888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92608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θ relative to β indicates drowsiness / inattention.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ratio = more attentive.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(Freeman et al. 1999 — validated marker)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91840" y="1554480"/>
            <a:ext cx="2697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91840" y="1554480"/>
            <a:ext cx="2697480" cy="457200"/>
          </a:xfrm>
          <a:prstGeom prst="rect">
            <a:avLst/>
          </a:prstGeom>
          <a:solidFill>
            <a:srgbClr val="1C1C2E"/>
          </a:solidFill>
          <a:ln w="12700">
            <a:solidFill>
              <a:srgbClr val="1C1C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0" y="1554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Frontal Beta Suppression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01568" y="208483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401568" y="226771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(frontal β / total DE)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01568" y="257860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Weight: 0.3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401568" y="2834640"/>
            <a:ext cx="246888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01568" y="292608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frontal beta indicates disengagement.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Channels: Fp1, Fp2, F3, F4, F7, F8, Fz.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suppression = low attention.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26480" y="1554480"/>
            <a:ext cx="2697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126480" y="1554480"/>
            <a:ext cx="2697480" cy="457200"/>
          </a:xfrm>
          <a:prstGeom prst="rect">
            <a:avLst/>
          </a:prstGeom>
          <a:solidFill>
            <a:srgbClr val="1C1C2E"/>
          </a:solidFill>
          <a:ln w="12700">
            <a:solidFill>
              <a:srgbClr val="1C1C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1554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DASM Hemispheric Asymmetry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36208" y="208483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236208" y="226771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−tanh(DASM_β / 5)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36208" y="257860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Weight: 0.3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236208" y="2834640"/>
            <a:ext cx="246888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36208" y="292608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Left-right asymmetry in beta band.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DASM = left &gt; right = engaged.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Negated so high value = inattentive.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solidFill>
            <a:srgbClr val="EBF3F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7548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  =  0.4 × (Θ/β)  +  0.3 × (1 − frontal β)  +  0.3 × (−tanh(DASM_β/5))     →  Lower score = more attentive  →  Percentile thresholds → Low / Medium / High labels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Recommendation System Pipeline  (Project 2)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612648"/>
            <a:ext cx="822960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877824"/>
            <a:ext cx="384048" cy="38404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77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87552" y="8595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attention per window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87552" y="1106424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HGB classifier (best model) trained on all subjects except test subject (LOSO). Predicts Low / Medium / High for each 10-second EEG window.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44652" y="1261872"/>
            <a:ext cx="0" cy="347472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82496"/>
            <a:ext cx="384048" cy="38404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87552" y="16642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to trial level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87552" y="191109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trial (video), compute mean predicted attention label across all its windows. Also record % of Low-attention windows per trial.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4652" y="2066544"/>
            <a:ext cx="0" cy="347472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487168"/>
            <a:ext cx="384048" cy="38404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87552" y="24688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trials per subject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87552" y="271576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trials ascending by mean predicted attention score. Trials with lowest score had the most inattentive EEG — candidate for re-watching.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44652" y="2871216"/>
            <a:ext cx="0" cy="347472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291840"/>
            <a:ext cx="384048" cy="38404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87552" y="32735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bottom-3 trials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87552" y="352044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lowest-attention trials are flagged as recommended for re-watching. Output: per-subject ranked list with attention percentages.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44652" y="3675888"/>
            <a:ext cx="0" cy="347472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096512"/>
            <a:ext cx="384048" cy="38404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87552" y="40782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quality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87552" y="432511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truth: bottom 40% attention trials per subject are truly low-attention. Metrics: Precision@3, Recall@3, F1@3. Any value &gt; 0.5 outperforms random baseline.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120640" y="804672"/>
            <a:ext cx="35661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120640" y="804672"/>
            <a:ext cx="3566160" cy="411480"/>
          </a:xfrm>
          <a:prstGeom prst="rect">
            <a:avLst/>
          </a:prstGeom>
          <a:solidFill>
            <a:srgbClr val="1C1C2E"/>
          </a:solidFill>
          <a:ln w="12700">
            <a:solidFill>
              <a:srgbClr val="1C1C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12080" y="80467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— Shaw et al. vs This Work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93792" y="1261872"/>
          <a:ext cx="3456432" cy="320040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1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C1C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C1C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Shaw et al.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C1C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(NeuroSky)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(SEED)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K-means cluster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Supervised ML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α/β ratio only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Composite score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Rec. logic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Rule-based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Score-ranked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result]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" name="Text 29"/>
          <p:cNvSpPr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Emotion State Classification  (Project 1)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576072"/>
            <a:ext cx="822960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685800"/>
            <a:ext cx="157276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73152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71.9%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0040" y="117043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Accuracy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(LDA)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039112" y="685800"/>
            <a:ext cx="157276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039112" y="73152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0.719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039112" y="117043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F1 Score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(LDA)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758184" y="685800"/>
            <a:ext cx="157276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758184" y="73152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~85%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758184" y="117043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Class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477256" y="685800"/>
            <a:ext cx="157276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77256" y="73152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60→80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477256" y="117043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Feature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(K)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196328" y="73152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196328" y="117043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graphicFrame>
        <p:nvGraphicFramePr>
          <p:cNvPr id="19" name="Chart 0"/>
          <p:cNvGraphicFramePr/>
          <p:nvPr>
            <p:extLst>
              <p:ext uri="{D42A27DB-BD31-4B8C-83A1-F6EECF244321}">
                <p14:modId xmlns:p14="http://schemas.microsoft.com/office/powerpoint/2010/main" val="2505282448"/>
              </p:ext>
            </p:extLst>
          </p:nvPr>
        </p:nvGraphicFramePr>
        <p:xfrm>
          <a:off x="320040" y="1719072"/>
          <a:ext cx="51206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77840" y="1719072"/>
            <a:ext cx="3291840" cy="31089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577840" y="4828032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 Curve — Accuracy vs K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320040" y="4773168"/>
            <a:ext cx="5120640" cy="292608"/>
          </a:xfrm>
          <a:prstGeom prst="rect">
            <a:avLst/>
          </a:prstGeom>
          <a:solidFill>
            <a:srgbClr val="EBF3F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11480" y="477316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achieves best accuracy (71.9%) — Band Power Ratios are 3.5× more discriminative than statistical features.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Confusion Matrices &amp; Per-Class F1  (Project 1)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640080"/>
            <a:ext cx="5303520" cy="310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3749040"/>
            <a:ext cx="5303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matrices — all 6 models, all folds combined</a:t>
            </a:r>
            <a:endParaRPr lang="en-US" sz="8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69280" y="640080"/>
            <a:ext cx="3246120" cy="19202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0" y="2560320"/>
            <a:ext cx="3246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F1 by model</a:t>
            </a:r>
            <a:endParaRPr lang="en-US" sz="8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669280" y="2816352"/>
            <a:ext cx="3246120" cy="17830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669280" y="4572000"/>
            <a:ext cx="3246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 band power by emotion class</a:t>
            </a:r>
            <a:endParaRPr lang="en-US" sz="800" dirty="0"/>
          </a:p>
        </p:txBody>
      </p:sp>
      <p:sp>
        <p:nvSpPr>
          <p:cNvPr id="10" name="Text 5"/>
          <p:cNvSpPr/>
          <p:nvPr/>
        </p:nvSpPr>
        <p:spPr>
          <a:xfrm>
            <a:off x="320040" y="397764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Observations: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20040" y="4251960"/>
            <a:ext cx="5303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class recall ~85% across all models — highest of the three classes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↔ Neutral most confused — share suppressed oscillation patterns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emotion has distinctive high Beta &amp; Gamma power (see band chart)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vastly outperform chance (33.3%) — confirming EEG discriminability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[Slide 8 / 10]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Attention Classification &amp; Recommendation  (Project 2)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58368"/>
            <a:ext cx="19202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6766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0.675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424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Accuracy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542032" y="658368"/>
            <a:ext cx="19202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42032" y="6766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0.678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542032" y="10424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F1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626864" y="10424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711696" y="6766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711696" y="10424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320040" y="3401568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800600" y="157276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8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6D00CF0-3245-6F50-584B-85171D973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302" y="1549908"/>
            <a:ext cx="4085099" cy="360783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F669F-5640-E983-DD95-971308AA3B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732499"/>
            <a:ext cx="4535423" cy="232159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0EBB2BB-32AB-4364-20DD-007DBC3388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6109" y="3215095"/>
            <a:ext cx="3548574" cy="19284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C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109728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0584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1 — Emotion Classification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40233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achieves 71.9% accuracy — competitive with DL baselines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Power Ratios are 3.5× more informative than statistical features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emotion classifies best (~85% recall)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 (MI, K=60) critical — accuracy degrades beyond K=80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Subject-independent evaluation — no data leakage across subjects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846320" y="100584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2 — Attention Recommendation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40233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attention score (3 markers) outperforms single alpha/beta ratio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ML on 62-channel data vs Shaw et al. single-channel clustering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3-class labels (Low/Med/High) more granular than binary attentive/non-attentive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ranked by predicted attention score per trial per subject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Precision@3 and Recall@3 evaluate quality of lecture video suggestion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0" y="1005840"/>
            <a:ext cx="0" cy="2423160"/>
          </a:xfrm>
          <a:prstGeom prst="line">
            <a:avLst/>
          </a:prstGeom>
          <a:noFill/>
          <a:ln w="10160">
            <a:solidFill>
              <a:srgbClr val="3B6B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931920"/>
            <a:ext cx="8046720" cy="713232"/>
          </a:xfrm>
          <a:prstGeom prst="rect">
            <a:avLst/>
          </a:prstGeom>
          <a:solidFill>
            <a:srgbClr val="2D2D44"/>
          </a:solidFill>
          <a:ln w="12700">
            <a:solidFill>
              <a:srgbClr val="3B6B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9593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420624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subjects limits cross-subject generalisation  ·  Attention labels are proxy-derived, not ground-truth validated  ·  Future: RBF-SVM with Nyström approx  ·  Raw signal processing  ·  Multi-session temporal analysis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48640" y="4700016"/>
            <a:ext cx="8046720" cy="347472"/>
          </a:xfrm>
          <a:prstGeom prst="rect">
            <a:avLst/>
          </a:prstGeom>
          <a:solidFill>
            <a:srgbClr val="111827"/>
          </a:solidFill>
          <a:ln w="12700">
            <a:solidFill>
              <a:srgbClr val="3B6B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4700016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Repository: https://github.com/Tanveer0405/EEG-Cognitive-State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1325</Words>
  <Application>Microsoft Office PowerPoint</Application>
  <PresentationFormat>On-screen Show (16:9)</PresentationFormat>
  <Paragraphs>222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EEG Cognitive State Classification and Attention Recommendation</dc:title>
  <dc:subject>PptxGenJS Presentation</dc:subject>
  <dc:creator>PptxGenJS</dc:creator>
  <cp:lastModifiedBy>TANVEER SINGH</cp:lastModifiedBy>
  <cp:revision>4</cp:revision>
  <dcterms:created xsi:type="dcterms:W3CDTF">2026-05-31T14:49:54Z</dcterms:created>
  <dcterms:modified xsi:type="dcterms:W3CDTF">2026-05-31T15:46:46Z</dcterms:modified>
</cp:coreProperties>
</file>